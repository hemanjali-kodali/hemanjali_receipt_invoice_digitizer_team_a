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Bitter Medium" pitchFamily="34" charset="0"/>
      <p:regular r:id="rId17"/>
    </p:embeddedFont>
    <p:embeddedFont>
      <p:font typeface="Bitter Medium" pitchFamily="34" charset="-122"/>
      <p:regular r:id="rId18"/>
    </p:embeddedFont>
    <p:embeddedFont>
      <p:font typeface="Bitter Medium" pitchFamily="34" charset="-120"/>
      <p:regular r:id="rId19"/>
    </p:embeddedFont>
    <p:embeddedFont>
      <p:font typeface="Open Sans" pitchFamily="34" charset="0"/>
      <p:regular r:id="rId20"/>
    </p:embeddedFont>
    <p:embeddedFont>
      <p:font typeface="Open Sans" pitchFamily="34" charset="-122"/>
      <p:regular r:id="rId21"/>
    </p:embeddedFont>
    <p:embeddedFont>
      <p:font typeface="Open Sans" pitchFamily="34" charset="-12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9.pn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9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9.xml"/><Relationship Id="rId7" Type="http://schemas.openxmlformats.org/officeDocument/2006/relationships/image" Target="../media/image9.png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9.png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9130" y="413385"/>
            <a:ext cx="8021955" cy="1196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Infosys Springboard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659130" y="3134360"/>
            <a:ext cx="5993130" cy="6705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Receipt &amp; Invoice Digitizer</a:t>
            </a:r>
            <a:endParaRPr lang="en-US" sz="3550" u="sng" dirty="0">
              <a:solidFill>
                <a:srgbClr val="2C3F42"/>
              </a:solidFill>
              <a:latin typeface="Bitter Medium" pitchFamily="34" charset="0"/>
              <a:ea typeface="Bitter Medium" pitchFamily="34" charset="-122"/>
              <a:cs typeface="Bitter Medium" pitchFamily="34" charset="-120"/>
            </a:endParaRPr>
          </a:p>
          <a:p>
            <a:pPr marL="0" indent="0" algn="l">
              <a:lnSpc>
                <a:spcPts val="4450"/>
              </a:lnSpc>
              <a:buNone/>
            </a:pPr>
            <a:endParaRPr lang="en-US" sz="3550" u="sng" dirty="0">
              <a:solidFill>
                <a:srgbClr val="2C3F42"/>
              </a:solidFill>
              <a:latin typeface="Bitter Medium" pitchFamily="34" charset="0"/>
              <a:ea typeface="Bitter Medium" pitchFamily="34" charset="-122"/>
              <a:cs typeface="Bitter Medium" pitchFamily="34" charset="-12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6260" y="3681730"/>
            <a:ext cx="5325110" cy="567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500"/>
              <a:t>Mentor: Shakthi GopalaKrishnan</a:t>
            </a:r>
            <a:endParaRPr lang="en-US" sz="2500"/>
          </a:p>
          <a:p>
            <a:endParaRPr lang="en-US" sz="2500"/>
          </a:p>
        </p:txBody>
      </p:sp>
      <p:sp>
        <p:nvSpPr>
          <p:cNvPr id="6" name="Text Box 5"/>
          <p:cNvSpPr txBox="1"/>
          <p:nvPr/>
        </p:nvSpPr>
        <p:spPr>
          <a:xfrm>
            <a:off x="3980815" y="6320790"/>
            <a:ext cx="5828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Team Members- Ankit Sharma</a:t>
            </a:r>
            <a:endParaRPr lang="en-US" sz="2000"/>
          </a:p>
          <a:p>
            <a:pPr marL="914400" lvl="2" indent="457200"/>
            <a:r>
              <a:rPr lang="en-US" sz="2000"/>
              <a:t>        Hemanjali Kodali</a:t>
            </a:r>
            <a:endParaRPr lang="en-US" sz="2000"/>
          </a:p>
          <a:p>
            <a:pPr marL="914400" lvl="2" indent="457200"/>
            <a:r>
              <a:rPr lang="en-US" sz="2000"/>
              <a:t>        Sandana Aini</a:t>
            </a:r>
            <a:endParaRPr lang="en-US" sz="2000"/>
          </a:p>
          <a:p>
            <a:pPr marL="914400" lvl="2" indent="457200"/>
            <a:r>
              <a:rPr lang="en-US" sz="2000"/>
              <a:t>        Rethika</a:t>
            </a:r>
            <a:endParaRPr lang="en-US" sz="2000"/>
          </a:p>
          <a:p>
            <a:pPr marL="914400" lvl="2" indent="457200"/>
            <a:r>
              <a:rPr lang="en-US" sz="2000"/>
              <a:t>        Nirupama Pardhu Nakketla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3004" y="615315"/>
            <a:ext cx="4450794" cy="556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Team Introduction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73004" y="1227415"/>
            <a:ext cx="2225397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Team A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173004" y="1715095"/>
            <a:ext cx="12284273" cy="1068110"/>
          </a:xfrm>
          <a:prstGeom prst="roundRect">
            <a:avLst>
              <a:gd name="adj" fmla="val 7001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95864" y="1737955"/>
            <a:ext cx="712113" cy="1022390"/>
          </a:xfrm>
          <a:prstGeom prst="roundRect">
            <a:avLst>
              <a:gd name="adj" fmla="val 6648"/>
            </a:avLst>
          </a:prstGeom>
          <a:solidFill>
            <a:srgbClr val="FCE2C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4582" y="2115622"/>
            <a:ext cx="266938" cy="2669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47637" y="1915954"/>
            <a:ext cx="2225397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Ankit Sharma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2047637" y="2277904"/>
            <a:ext cx="11208782" cy="2540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400" b="1" dirty="0">
                <a:latin typeface="Hiragino Sans GB W6" panose="020B0300000000000000" charset="-122"/>
                <a:ea typeface="Hiragino Sans GB W6" panose="020B0300000000000000" charset="-122"/>
              </a:rPr>
              <a:t>Backend Development &amp; Dashboard Implementation</a:t>
            </a:r>
            <a:endParaRPr lang="en-US" altLang="en-US" sz="1400" b="1" dirty="0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73004" y="2922865"/>
            <a:ext cx="12284273" cy="1068110"/>
          </a:xfrm>
          <a:prstGeom prst="roundRect">
            <a:avLst>
              <a:gd name="adj" fmla="val 7001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95864" y="2945725"/>
            <a:ext cx="712113" cy="1022390"/>
          </a:xfrm>
          <a:prstGeom prst="roundRect">
            <a:avLst>
              <a:gd name="adj" fmla="val 6648"/>
            </a:avLst>
          </a:prstGeom>
          <a:solidFill>
            <a:srgbClr val="FCE2C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4582" y="3323392"/>
            <a:ext cx="266938" cy="2669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47637" y="3123724"/>
            <a:ext cx="2225397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Hemanjali Kodali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2047637" y="3485674"/>
            <a:ext cx="11208782" cy="2540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400" b="1" dirty="0">
                <a:latin typeface="Hiragino Sans GB W6" panose="020B0300000000000000" charset="-122"/>
                <a:ea typeface="Hiragino Sans GB W6" panose="020B0300000000000000" charset="-122"/>
              </a:rPr>
              <a:t>User Dashboard &amp; Receipt Digitization Functionality</a:t>
            </a:r>
            <a:endParaRPr lang="en-US" altLang="en-US" sz="1400" b="1" dirty="0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173004" y="4130635"/>
            <a:ext cx="12284273" cy="1068110"/>
          </a:xfrm>
          <a:prstGeom prst="roundRect">
            <a:avLst>
              <a:gd name="adj" fmla="val 7001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95864" y="4153495"/>
            <a:ext cx="712113" cy="1022390"/>
          </a:xfrm>
          <a:prstGeom prst="roundRect">
            <a:avLst>
              <a:gd name="adj" fmla="val 6648"/>
            </a:avLst>
          </a:prstGeom>
          <a:solidFill>
            <a:srgbClr val="FCE2CF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4582" y="4531162"/>
            <a:ext cx="266938" cy="2669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47637" y="4331494"/>
            <a:ext cx="2225397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Rethika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2047637" y="4693444"/>
            <a:ext cx="11208782" cy="2540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400" b="1" dirty="0">
                <a:latin typeface="Hiragino Sans GB W6" panose="020B0300000000000000" charset="-122"/>
                <a:ea typeface="Hiragino Sans GB W6" panose="020B0300000000000000" charset="-122"/>
              </a:rPr>
              <a:t>Landing Page Design</a:t>
            </a:r>
            <a:endParaRPr lang="en-US" altLang="en-US" sz="1400" b="1" dirty="0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1173004" y="5338405"/>
            <a:ext cx="12284273" cy="1068110"/>
          </a:xfrm>
          <a:prstGeom prst="roundRect">
            <a:avLst>
              <a:gd name="adj" fmla="val 7001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95864" y="5361265"/>
            <a:ext cx="712113" cy="1022390"/>
          </a:xfrm>
          <a:prstGeom prst="roundRect">
            <a:avLst>
              <a:gd name="adj" fmla="val 6648"/>
            </a:avLst>
          </a:prstGeom>
          <a:solidFill>
            <a:srgbClr val="FCE2CF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4582" y="5738932"/>
            <a:ext cx="266938" cy="2669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47637" y="5539264"/>
            <a:ext cx="2225397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Sandana Aini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2047637" y="5901214"/>
            <a:ext cx="11208782" cy="2540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400" b="1" dirty="0">
                <a:latin typeface="Hiragino Sans GB W6" panose="020B0300000000000000" charset="-122"/>
                <a:ea typeface="Hiragino Sans GB W6" panose="020B0300000000000000" charset="-122"/>
              </a:rPr>
              <a:t>Chatbot Development</a:t>
            </a:r>
            <a:endParaRPr lang="en-US" altLang="en-US" sz="1400" b="1" dirty="0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1173004" y="6546175"/>
            <a:ext cx="12284273" cy="1068110"/>
          </a:xfrm>
          <a:prstGeom prst="roundRect">
            <a:avLst>
              <a:gd name="adj" fmla="val 7001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195864" y="6569035"/>
            <a:ext cx="712113" cy="1022390"/>
          </a:xfrm>
          <a:prstGeom prst="roundRect">
            <a:avLst>
              <a:gd name="adj" fmla="val 6648"/>
            </a:avLst>
          </a:prstGeom>
          <a:solidFill>
            <a:srgbClr val="FCE2CF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4582" y="6946702"/>
            <a:ext cx="266938" cy="2669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47637" y="6747034"/>
            <a:ext cx="2720340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Nirupama Pardhu Nakketla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2047637" y="7108984"/>
            <a:ext cx="11208782" cy="2540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400" b="1" dirty="0">
                <a:latin typeface="Hiragino Sans GB W6" panose="020B0300000000000000" charset="-122"/>
                <a:ea typeface="Hiragino Sans GB W6" panose="020B0300000000000000" charset="-122"/>
              </a:rPr>
              <a:t>UI/UX Enhancement</a:t>
            </a:r>
            <a:endParaRPr lang="en-US" altLang="en-US" sz="1400" b="1" dirty="0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76200" y="7742555"/>
            <a:ext cx="18542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541" y="744617"/>
            <a:ext cx="3718441" cy="46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0541" y="1355527"/>
            <a:ext cx="8102918" cy="196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Managing receipts manually is inefficient and inconvenient: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0541" y="1662113"/>
            <a:ext cx="8102918" cy="560308"/>
          </a:xfrm>
          <a:prstGeom prst="roundRect">
            <a:avLst>
              <a:gd name="adj" fmla="val 1114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4490" y="1826062"/>
            <a:ext cx="3293864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Receipts can be easily lost or damaged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0541" y="2319933"/>
            <a:ext cx="8102918" cy="560308"/>
          </a:xfrm>
          <a:prstGeom prst="roundRect">
            <a:avLst>
              <a:gd name="adj" fmla="val 1114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4490" y="2483882"/>
            <a:ext cx="2817495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Manual data entry takes too long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0541" y="2977753"/>
            <a:ext cx="8102918" cy="560308"/>
          </a:xfrm>
          <a:prstGeom prst="roundRect">
            <a:avLst>
              <a:gd name="adj" fmla="val 1114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4490" y="3141702"/>
            <a:ext cx="3138607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Hard to organize and track expenses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0541" y="3635573"/>
            <a:ext cx="8102918" cy="560308"/>
          </a:xfrm>
          <a:prstGeom prst="roundRect">
            <a:avLst>
              <a:gd name="adj" fmla="val 1114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4490" y="3799523"/>
            <a:ext cx="3489365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 clear insights into spending behavior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0541" y="4293394"/>
            <a:ext cx="8102918" cy="560308"/>
          </a:xfrm>
          <a:prstGeom prst="roundRect">
            <a:avLst>
              <a:gd name="adj" fmla="val 1114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4490" y="4457343"/>
            <a:ext cx="2495788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 digital backup for records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20541" y="4951214"/>
            <a:ext cx="8102918" cy="560308"/>
          </a:xfrm>
          <a:prstGeom prst="roundRect">
            <a:avLst>
              <a:gd name="adj" fmla="val 1114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4490" y="5115163"/>
            <a:ext cx="3055977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Hard to analyze spending over time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20541" y="5609034"/>
            <a:ext cx="8102918" cy="560308"/>
          </a:xfrm>
          <a:prstGeom prst="roundRect">
            <a:avLst>
              <a:gd name="adj" fmla="val 1114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4490" y="5772983"/>
            <a:ext cx="3599259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Receipts fade, curl, or become unreadable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20541" y="6266855"/>
            <a:ext cx="8102918" cy="560308"/>
          </a:xfrm>
          <a:prstGeom prst="roundRect">
            <a:avLst>
              <a:gd name="adj" fmla="val 1114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4490" y="6430804"/>
            <a:ext cx="3098483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Searching old receipts is frustrating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20541" y="6924675"/>
            <a:ext cx="8102918" cy="560308"/>
          </a:xfrm>
          <a:prstGeom prst="roundRect">
            <a:avLst>
              <a:gd name="adj" fmla="val 1114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4490" y="7088624"/>
            <a:ext cx="3214807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Paper clutter creates compliance risk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023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Objective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4264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goal of this project is to build a system that: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689032"/>
            <a:ext cx="226814" cy="2268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4015740"/>
            <a:ext cx="4196358" cy="30480"/>
          </a:xfrm>
          <a:prstGeom prst="rect">
            <a:avLst/>
          </a:prstGeom>
          <a:solidFill>
            <a:srgbClr val="D2600F"/>
          </a:solidFill>
        </p:spPr>
      </p:sp>
      <p:sp>
        <p:nvSpPr>
          <p:cNvPr id="6" name="Text 3"/>
          <p:cNvSpPr/>
          <p:nvPr/>
        </p:nvSpPr>
        <p:spPr>
          <a:xfrm>
            <a:off x="793790" y="4190048"/>
            <a:ext cx="4196358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Automatically extracts data from receipts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6962" y="3689032"/>
            <a:ext cx="226814" cy="2268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16962" y="4015740"/>
            <a:ext cx="4196358" cy="30480"/>
          </a:xfrm>
          <a:prstGeom prst="rect">
            <a:avLst/>
          </a:prstGeom>
          <a:solidFill>
            <a:srgbClr val="D2600F"/>
          </a:solidFill>
        </p:spPr>
      </p:sp>
      <p:sp>
        <p:nvSpPr>
          <p:cNvPr id="9" name="Text 5"/>
          <p:cNvSpPr/>
          <p:nvPr/>
        </p:nvSpPr>
        <p:spPr>
          <a:xfrm>
            <a:off x="5216962" y="4190048"/>
            <a:ext cx="4196358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Converts unstructured data into structured format</a:t>
            </a:r>
            <a:endParaRPr lang="en-US" sz="2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0133" y="3689032"/>
            <a:ext cx="226814" cy="22681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640133" y="4015740"/>
            <a:ext cx="4196358" cy="30480"/>
          </a:xfrm>
          <a:prstGeom prst="rect">
            <a:avLst/>
          </a:prstGeom>
          <a:solidFill>
            <a:srgbClr val="D2600F"/>
          </a:solidFill>
        </p:spPr>
      </p:sp>
      <p:sp>
        <p:nvSpPr>
          <p:cNvPr id="12" name="Text 7"/>
          <p:cNvSpPr/>
          <p:nvPr/>
        </p:nvSpPr>
        <p:spPr>
          <a:xfrm>
            <a:off x="9640133" y="4190048"/>
            <a:ext cx="4196358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Stores receipt information digitally</a:t>
            </a:r>
            <a:endParaRPr lang="en-US" sz="2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323880"/>
            <a:ext cx="226814" cy="22681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93790" y="5650587"/>
            <a:ext cx="6407944" cy="30480"/>
          </a:xfrm>
          <a:prstGeom prst="rect">
            <a:avLst/>
          </a:prstGeom>
          <a:solidFill>
            <a:srgbClr val="D2600F"/>
          </a:solidFill>
        </p:spPr>
      </p:sp>
      <p:sp>
        <p:nvSpPr>
          <p:cNvPr id="15" name="Text 9"/>
          <p:cNvSpPr/>
          <p:nvPr/>
        </p:nvSpPr>
        <p:spPr>
          <a:xfrm>
            <a:off x="793790" y="5824895"/>
            <a:ext cx="515826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Provides analytics for expense tracking</a:t>
            </a:r>
            <a:endParaRPr lang="en-US" sz="2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8548" y="5323880"/>
            <a:ext cx="226814" cy="22681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428548" y="5650587"/>
            <a:ext cx="6407944" cy="30480"/>
          </a:xfrm>
          <a:prstGeom prst="rect">
            <a:avLst/>
          </a:prstGeom>
          <a:solidFill>
            <a:srgbClr val="D2600F"/>
          </a:solidFill>
        </p:spPr>
      </p:sp>
      <p:sp>
        <p:nvSpPr>
          <p:cNvPr id="18" name="Text 11"/>
          <p:cNvSpPr/>
          <p:nvPr/>
        </p:nvSpPr>
        <p:spPr>
          <a:xfrm>
            <a:off x="7428548" y="5824895"/>
            <a:ext cx="578536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Assists users through an interactive chatbot</a:t>
            </a:r>
            <a:endParaRPr lang="en-US" sz="22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5235" y="7641590"/>
            <a:ext cx="18542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6637"/>
            <a:ext cx="657867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Architecture &amp; Workflow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79044"/>
            <a:ext cx="13042821" cy="56337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6126" y="5984962"/>
            <a:ext cx="1936635" cy="3527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OCR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06126" y="6438013"/>
            <a:ext cx="1936635" cy="564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raw text with Tesseract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878905" y="5984962"/>
            <a:ext cx="1936635" cy="3527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Store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878905" y="6438013"/>
            <a:ext cx="1936635" cy="564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 in FastAPI + SQL backend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425908" y="2387403"/>
            <a:ext cx="1936635" cy="3527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Upload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25908" y="2840453"/>
            <a:ext cx="1936635" cy="564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 receipt image or PDF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285247" y="2387403"/>
            <a:ext cx="1936635" cy="3527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Display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285247" y="2840453"/>
            <a:ext cx="1936635" cy="8465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 results and analytics on frontend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423379" y="2387403"/>
            <a:ext cx="1936635" cy="3527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Process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23379" y="2840453"/>
            <a:ext cx="1936635" cy="564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data via Gemini AI</a:t>
            </a:r>
            <a:endParaRPr lang="en-US" sz="17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200" y="7734300"/>
            <a:ext cx="18542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671870"/>
            <a:ext cx="5414963" cy="6768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Technology Stack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8071" y="1762363"/>
            <a:ext cx="13114258" cy="3386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with a modern, end-to-end stack for a smooth receipt capture and analytics experience.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071" y="2333625"/>
            <a:ext cx="541496" cy="541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071" y="3133606"/>
            <a:ext cx="2707481" cy="3383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Frontend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8071" y="3596045"/>
            <a:ext cx="4199096" cy="11606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Tailwind CSS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Recharts (for data visualization)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5652" y="2333625"/>
            <a:ext cx="541496" cy="5414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5652" y="3133606"/>
            <a:ext cx="2707481" cy="3383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Backend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215652" y="3596045"/>
            <a:ext cx="4199096" cy="3386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(Python)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3233" y="2333625"/>
            <a:ext cx="541496" cy="5414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3233" y="3133606"/>
            <a:ext cx="2707481" cy="3383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&amp; OCR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9673233" y="3596045"/>
            <a:ext cx="4199096" cy="7496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Tesseract OCR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Gemini AI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071" y="5170289"/>
            <a:ext cx="541496" cy="5414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8071" y="5970270"/>
            <a:ext cx="2707481" cy="3383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Database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58071" y="6432709"/>
            <a:ext cx="4199096" cy="3386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Database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5652" y="5304909"/>
            <a:ext cx="541496" cy="5414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5652" y="5970270"/>
            <a:ext cx="2707481" cy="3383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Tools Used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5215652" y="6432709"/>
            <a:ext cx="4199096" cy="7496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(version control)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 (development)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758071" y="7523178"/>
            <a:ext cx="13114258" cy="34647"/>
          </a:xfrm>
          <a:prstGeom prst="rect">
            <a:avLst/>
          </a:prstGeom>
          <a:solidFill>
            <a:srgbClr val="2B2E3C">
              <a:alpha val="50000"/>
            </a:srgbClr>
          </a:solidFill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615" y="2222500"/>
            <a:ext cx="1107440" cy="96012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7285" y="2114550"/>
            <a:ext cx="1078230" cy="10058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9745" y="2210435"/>
            <a:ext cx="1015365" cy="88011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095" y="5124450"/>
            <a:ext cx="949960" cy="82359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1405" y="5184140"/>
            <a:ext cx="865505" cy="75057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60630" y="7734300"/>
            <a:ext cx="18542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6374" y="521137"/>
            <a:ext cx="5241369" cy="529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Screenshots And Interface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66374" y="1304330"/>
            <a:ext cx="11697652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screens from the app, shown in a wider compact grid for easier comparison.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66374" y="1797725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66374" y="2148602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Welcoming first view.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374" y="2528054"/>
            <a:ext cx="2614136" cy="17542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374" y="4424839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6374" y="4775716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sign-up flow.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374" y="5155168"/>
            <a:ext cx="2614136" cy="12095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01753" y="1797725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01753" y="2148602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Streamlined sign-in screen.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753" y="2528054"/>
            <a:ext cx="2614136" cy="12095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01753" y="3880128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01753" y="4231005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 workspace overview.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753" y="4610457"/>
            <a:ext cx="2614136" cy="130385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37133" y="1797725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537133" y="2148602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performance insights.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133" y="2528054"/>
            <a:ext cx="2614136" cy="130385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537133" y="3974425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7537133" y="4325303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assistant for support.</a:t>
            </a:r>
            <a:endParaRPr lang="en-US" sz="13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7133" y="4704755"/>
            <a:ext cx="2614136" cy="286119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572512" y="1797725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Digitized Receipt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10572512" y="2148602"/>
            <a:ext cx="2614136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extracted data.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512" y="2528054"/>
            <a:ext cx="2614136" cy="264640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75235" y="7734300"/>
            <a:ext cx="18542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258" y="774740"/>
            <a:ext cx="5035153" cy="579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Feature Enhancements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917258" y="1657350"/>
            <a:ext cx="12795766" cy="269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added several features to improve usability: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17258" y="2097524"/>
            <a:ext cx="4164211" cy="1744147"/>
          </a:xfrm>
          <a:prstGeom prst="roundRect">
            <a:avLst>
              <a:gd name="adj" fmla="val 446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258" y="2290524"/>
            <a:ext cx="556260" cy="556260"/>
          </a:xfrm>
          <a:prstGeom prst="roundRect">
            <a:avLst>
              <a:gd name="adj" fmla="val 16436712"/>
            </a:avLst>
          </a:prstGeom>
          <a:solidFill>
            <a:srgbClr val="D2600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3253" y="2443520"/>
            <a:ext cx="250269" cy="2502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258" y="2998351"/>
            <a:ext cx="2318028" cy="289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Analytics Dashboard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10258" y="3378994"/>
            <a:ext cx="3778210" cy="269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visual insights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035" y="2097524"/>
            <a:ext cx="4164211" cy="1744147"/>
          </a:xfrm>
          <a:prstGeom prst="roundRect">
            <a:avLst>
              <a:gd name="adj" fmla="val 446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26035" y="2290524"/>
            <a:ext cx="556260" cy="556260"/>
          </a:xfrm>
          <a:prstGeom prst="roundRect">
            <a:avLst>
              <a:gd name="adj" fmla="val 16436712"/>
            </a:avLst>
          </a:prstGeom>
          <a:solidFill>
            <a:srgbClr val="D2600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9031" y="2443520"/>
            <a:ext cx="250269" cy="2502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6035" y="2998351"/>
            <a:ext cx="2829758" cy="289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Receipt Download Feature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426035" y="3378994"/>
            <a:ext cx="3778210" cy="269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saving data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9548812" y="2097524"/>
            <a:ext cx="4164211" cy="1744147"/>
          </a:xfrm>
          <a:prstGeom prst="roundRect">
            <a:avLst>
              <a:gd name="adj" fmla="val 446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741813" y="2290524"/>
            <a:ext cx="556260" cy="556260"/>
          </a:xfrm>
          <a:prstGeom prst="roundRect">
            <a:avLst>
              <a:gd name="adj" fmla="val 16436712"/>
            </a:avLst>
          </a:prstGeom>
          <a:solidFill>
            <a:srgbClr val="D2600F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4808" y="2443520"/>
            <a:ext cx="250269" cy="2502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41813" y="2998351"/>
            <a:ext cx="2318028" cy="289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Chatbot Integration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741813" y="3378994"/>
            <a:ext cx="3778210" cy="269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user assistance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917258" y="3993237"/>
            <a:ext cx="6322100" cy="1744147"/>
          </a:xfrm>
          <a:prstGeom prst="roundRect">
            <a:avLst>
              <a:gd name="adj" fmla="val 446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10258" y="4186238"/>
            <a:ext cx="556260" cy="556260"/>
          </a:xfrm>
          <a:prstGeom prst="roundRect">
            <a:avLst>
              <a:gd name="adj" fmla="val 16436712"/>
            </a:avLst>
          </a:prstGeom>
          <a:solidFill>
            <a:srgbClr val="D2600F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3253" y="4339233"/>
            <a:ext cx="250269" cy="2502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0258" y="4894064"/>
            <a:ext cx="2318028" cy="289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Dark Mode UI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110258" y="5274707"/>
            <a:ext cx="5936099" cy="269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better experience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7390924" y="3993237"/>
            <a:ext cx="6322100" cy="1744147"/>
          </a:xfrm>
          <a:prstGeom prst="roundRect">
            <a:avLst>
              <a:gd name="adj" fmla="val 446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583924" y="4186238"/>
            <a:ext cx="556260" cy="556260"/>
          </a:xfrm>
          <a:prstGeom prst="roundRect">
            <a:avLst>
              <a:gd name="adj" fmla="val 16436712"/>
            </a:avLst>
          </a:prstGeom>
          <a:solidFill>
            <a:srgbClr val="D2600F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6919" y="4339233"/>
            <a:ext cx="250269" cy="2502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83924" y="4894064"/>
            <a:ext cx="2875598" cy="289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Automatic Item Extraction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7583924" y="5274707"/>
            <a:ext cx="5936099" cy="269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detailed data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17258" y="5964793"/>
            <a:ext cx="2899291" cy="347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Enhancements</a:t>
            </a:r>
            <a:endParaRPr lang="en-US" sz="2150" dirty="0"/>
          </a:p>
        </p:txBody>
      </p:sp>
      <p:sp>
        <p:nvSpPr>
          <p:cNvPr id="30" name="Text 23"/>
          <p:cNvSpPr/>
          <p:nvPr/>
        </p:nvSpPr>
        <p:spPr>
          <a:xfrm>
            <a:off x="917258" y="6539865"/>
            <a:ext cx="12795766" cy="9149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application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tracking features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AI-based insights</a:t>
            </a:r>
            <a:endParaRPr lang="en-US" sz="145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5235" y="7713345"/>
            <a:ext cx="18542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717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1958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75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Receipt &amp; Invoice Digitizer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successfully achieves its objectives: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5812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2600F"/>
          </a:solidFill>
        </p:spPr>
      </p:sp>
      <p:sp>
        <p:nvSpPr>
          <p:cNvPr id="5" name="Text 3"/>
          <p:cNvSpPr/>
          <p:nvPr/>
        </p:nvSpPr>
        <p:spPr>
          <a:xfrm>
            <a:off x="1133951" y="3937635"/>
            <a:ext cx="544699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Automates receipt digitization using OCR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56884" y="405812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2600F"/>
          </a:solidFill>
        </p:spPr>
      </p:sp>
      <p:sp>
        <p:nvSpPr>
          <p:cNvPr id="7" name="Text 5"/>
          <p:cNvSpPr/>
          <p:nvPr/>
        </p:nvSpPr>
        <p:spPr>
          <a:xfrm>
            <a:off x="7797046" y="3937635"/>
            <a:ext cx="367986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Extracts key details using 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486608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2600F"/>
          </a:solidFill>
        </p:spPr>
      </p:sp>
      <p:sp>
        <p:nvSpPr>
          <p:cNvPr id="9" name="Text 7"/>
          <p:cNvSpPr/>
          <p:nvPr/>
        </p:nvSpPr>
        <p:spPr>
          <a:xfrm>
            <a:off x="1133951" y="4745593"/>
            <a:ext cx="461950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Stores data digitally for easy access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56884" y="486608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2600F"/>
          </a:solidFill>
        </p:spPr>
      </p:sp>
      <p:sp>
        <p:nvSpPr>
          <p:cNvPr id="11" name="Text 9"/>
          <p:cNvSpPr/>
          <p:nvPr/>
        </p:nvSpPr>
        <p:spPr>
          <a:xfrm>
            <a:off x="7797046" y="4745593"/>
            <a:ext cx="6039564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Provides analytics for better expense understanding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709404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Overall, the system improves efficiency and demonstrates how </a:t>
            </a:r>
            <a:r>
              <a:rPr lang="en-US" sz="175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and automation can simplify financial management.</a:t>
            </a:r>
            <a:endParaRPr lang="en-US" sz="17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5235" y="7684135"/>
            <a:ext cx="18542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859530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Thank You</a:t>
            </a:r>
            <a:endParaRPr lang="en-US" sz="4450" u="sng" dirty="0"/>
          </a:p>
        </p:txBody>
      </p:sp>
      <p:sp>
        <p:nvSpPr>
          <p:cNvPr id="4" name="Text 1"/>
          <p:cNvSpPr/>
          <p:nvPr/>
        </p:nvSpPr>
        <p:spPr>
          <a:xfrm>
            <a:off x="6280190" y="3950375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471582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200" y="7734300"/>
            <a:ext cx="18542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2660</Words>
  <Application>WPS Docs</Application>
  <PresentationFormat>On-screen Show (16:9)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Bitter Medium</vt:lpstr>
      <vt:lpstr>Bitter Medium</vt:lpstr>
      <vt:lpstr>Bitter Medium</vt:lpstr>
      <vt:lpstr>Hiragino Sans GB W6</vt:lpstr>
      <vt:lpstr>Open Sans</vt:lpstr>
      <vt:lpstr>Open Sans</vt:lpstr>
      <vt:lpstr>Open Sans</vt:lpstr>
      <vt:lpstr>Calibri</vt:lpstr>
      <vt:lpstr>Helvetica Neue</vt:lpstr>
      <vt:lpstr>Microsoft YaHei</vt:lpstr>
      <vt:lpstr>汉仪旗黑</vt:lpstr>
      <vt:lpstr>宋体-简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Nirupama Pardhu Nakketla</cp:lastModifiedBy>
  <cp:revision>6</cp:revision>
  <dcterms:created xsi:type="dcterms:W3CDTF">2026-03-28T15:34:03Z</dcterms:created>
  <dcterms:modified xsi:type="dcterms:W3CDTF">2026-03-28T15:34:03Z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75688A306EBC83D480EBC769253EFD5C_43</vt:lpwstr>
  </property>
  <property fmtid="{D5CDD505-2E9C-101B-9397-08002B2CF9AE}" pid="3" name="KSOProductBuildVer">
    <vt:lpwstr>1033-12.1.25200.25200</vt:lpwstr>
  </property>
</Properties>
</file>